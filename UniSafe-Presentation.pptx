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0"/>
            <a:ext cx="4282135" cy="6858000"/>
          </a:xfrm>
          <a:prstGeom prst="rect">
            <a:avLst/>
          </a:prstGeom>
          <a:solidFill>
            <a:srgbClr val="203E37"/>
          </a:solidFill>
          <a:ln w="12700">
            <a:solidFill>
              <a:srgbClr val="203E3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68580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3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ICT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UniSafe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731520" y="2359152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315F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suspicious messages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315F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university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49808" y="3584448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proposed service that helps students and staff get a concern to the right team.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4663440"/>
            <a:ext cx="5440680" cy="0"/>
          </a:xfrm>
          <a:prstGeom prst="line">
            <a:avLst/>
          </a:prstGeom>
          <a:noFill/>
          <a:ln w="12700">
            <a:solidFill>
              <a:srgbClr val="D9D8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49194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5166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Saktaganov Ramazan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49040" y="49194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49040" y="5166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 2602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458200" y="1097280"/>
            <a:ext cx="2926080" cy="2926080"/>
          </a:xfrm>
          <a:prstGeom prst="ellipse">
            <a:avLst/>
          </a:prstGeom>
          <a:solidFill>
            <a:srgbClr val="3A5F52"/>
          </a:solidFill>
          <a:ln w="12700">
            <a:solidFill>
              <a:srgbClr val="3A5F5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32520" y="1874520"/>
            <a:ext cx="2423160" cy="1627632"/>
          </a:xfrm>
          <a:prstGeom prst="roundRect">
            <a:avLst>
              <a:gd name="adj" fmla="val 1124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59952" y="1938528"/>
            <a:ext cx="1170432" cy="768096"/>
          </a:xfrm>
          <a:prstGeom prst="line">
            <a:avLst/>
          </a:prstGeom>
          <a:noFill/>
          <a:ln w="22860">
            <a:solidFill>
              <a:srgbClr val="315F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30384" y="2706624"/>
            <a:ext cx="1188720" cy="-749808"/>
          </a:xfrm>
          <a:prstGeom prst="line">
            <a:avLst/>
          </a:prstGeom>
          <a:noFill/>
          <a:ln w="22860">
            <a:solidFill>
              <a:srgbClr val="315F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88168" y="1517904"/>
            <a:ext cx="512064" cy="512064"/>
          </a:xfrm>
          <a:prstGeom prst="ellipse">
            <a:avLst/>
          </a:prstGeom>
          <a:solidFill>
            <a:srgbClr val="C96D4F"/>
          </a:solidFill>
          <a:ln w="12700">
            <a:solidFill>
              <a:srgbClr val="C96D4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88168" y="1554480"/>
            <a:ext cx="512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47888" y="4187952"/>
            <a:ext cx="3154680" cy="841248"/>
          </a:xfrm>
          <a:prstGeom prst="roundRect">
            <a:avLst>
              <a:gd name="adj" fmla="val 108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5632" y="43799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3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RECEIVED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85632" y="46451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number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9808" y="6172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 /  REVIEW  /  FOLLOW UP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93776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message looks official, what should you do?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21615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familiar subject line can still hide a risky link or request.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1874520"/>
            <a:ext cx="6473952" cy="4069080"/>
          </a:xfrm>
          <a:prstGeom prst="roundRect">
            <a:avLst>
              <a:gd name="adj" fmla="val 674"/>
            </a:avLst>
          </a:prstGeom>
          <a:solidFill>
            <a:srgbClr val="FFFDF8"/>
          </a:solidFill>
          <a:ln w="10160">
            <a:solidFill>
              <a:srgbClr val="D9D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176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3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32688" y="26060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Aliya checks her university email on her phone. One morning, she gets an unexpected message with a link.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32688" y="3767328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can’t tell if it’s genuine. She doesn’t want to click it, but she also isn’t sure who at the university should hear about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32688" y="4800600"/>
            <a:ext cx="5559552" cy="0"/>
          </a:xfrm>
          <a:prstGeom prst="line">
            <a:avLst/>
          </a:prstGeom>
          <a:noFill/>
          <a:ln w="10160">
            <a:solidFill>
              <a:srgbClr val="D9D8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5029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CLEAR REPORTING ROUTE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32688" y="5413248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6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ignore 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70048" y="5413248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6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 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42232" y="5413248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6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it to the wrong place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06640" y="1874520"/>
            <a:ext cx="4160520" cy="4069080"/>
          </a:xfrm>
          <a:prstGeom prst="roundRect">
            <a:avLst>
              <a:gd name="adj" fmla="val 674"/>
            </a:avLst>
          </a:prstGeom>
          <a:solidFill>
            <a:srgbClr val="E8EEE7"/>
          </a:solidFill>
          <a:ln w="10160">
            <a:solidFill>
              <a:srgbClr val="E8E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2194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3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26680" y="2715768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3E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message may have reached other people.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26680" y="379476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nobody reports it, the university IT or security team may not know there is a problem until later.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26680" y="4864608"/>
            <a:ext cx="3200400" cy="0"/>
          </a:xfrm>
          <a:prstGeom prst="line">
            <a:avLst/>
          </a:prstGeom>
          <a:noFill/>
          <a:ln w="12700">
            <a:solidFill>
              <a:srgbClr val="C6D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5102352"/>
            <a:ext cx="3218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15F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report should take little effort and tell the user what happens next.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8890">
            <a:solidFill>
              <a:srgbClr val="D9D8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65471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70" kern="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UNISAFE  /  ICT PROJECT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93776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UniSafe gives Aliya one clear next step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21615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report collects the essentials. A person at the university decides what to do.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0976" y="2624328"/>
            <a:ext cx="10378440" cy="0"/>
          </a:xfrm>
          <a:prstGeom prst="line">
            <a:avLst/>
          </a:prstGeom>
          <a:noFill/>
          <a:ln w="20320">
            <a:solidFill>
              <a:srgbClr val="B9C8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450592"/>
            <a:ext cx="347472" cy="347472"/>
          </a:xfrm>
          <a:prstGeom prst="ellipse">
            <a:avLst/>
          </a:prstGeom>
          <a:solidFill>
            <a:srgbClr val="315F53"/>
          </a:solidFill>
          <a:ln w="12700">
            <a:solidFill>
              <a:srgbClr val="315F5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49631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6656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76656" y="350215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type of incident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90672" y="2450592"/>
            <a:ext cx="347472" cy="347472"/>
          </a:xfrm>
          <a:prstGeom prst="ellipse">
            <a:avLst/>
          </a:prstGeom>
          <a:solidFill>
            <a:srgbClr val="315F53"/>
          </a:solidFill>
          <a:ln w="12700">
            <a:solidFill>
              <a:srgbClr val="315F5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249631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71800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71800" y="350215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details and the date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85816" y="2450592"/>
            <a:ext cx="347472" cy="347472"/>
          </a:xfrm>
          <a:prstGeom prst="ellipse">
            <a:avLst/>
          </a:prstGeom>
          <a:solidFill>
            <a:srgbClr val="315F53"/>
          </a:solidFill>
          <a:ln w="12700">
            <a:solidFill>
              <a:srgbClr val="315F5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5816" y="249631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66944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Attach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266944" y="350215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a screenshot if useful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2450592"/>
            <a:ext cx="347472" cy="347472"/>
          </a:xfrm>
          <a:prstGeom prst="ellipse">
            <a:avLst/>
          </a:prstGeom>
          <a:solidFill>
            <a:srgbClr val="315F53"/>
          </a:solidFill>
          <a:ln w="12700">
            <a:solidFill>
              <a:srgbClr val="315F5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249631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62088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562088" y="350215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 before sending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76104" y="2450592"/>
            <a:ext cx="347472" cy="347472"/>
          </a:xfrm>
          <a:prstGeom prst="ellipse">
            <a:avLst/>
          </a:prstGeom>
          <a:solidFill>
            <a:srgbClr val="315F53"/>
          </a:solidFill>
          <a:ln w="12700">
            <a:solidFill>
              <a:srgbClr val="315F5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76104" y="249631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57232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857232" y="350215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reference number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4599432"/>
            <a:ext cx="6675120" cy="1051560"/>
          </a:xfrm>
          <a:prstGeom prst="roundRect">
            <a:avLst>
              <a:gd name="adj" fmla="val 1739"/>
            </a:avLst>
          </a:prstGeom>
          <a:solidFill>
            <a:srgbClr val="203E37"/>
          </a:solidFill>
          <a:ln w="10160">
            <a:solidFill>
              <a:srgbClr val="203E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8463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C8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SUBMISSION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06040" y="481888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review the report and follow up if needed.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26096" y="4599432"/>
            <a:ext cx="3895344" cy="1051560"/>
          </a:xfrm>
          <a:prstGeom prst="roundRect">
            <a:avLst>
              <a:gd name="adj" fmla="val 1739"/>
            </a:avLst>
          </a:prstGeom>
          <a:solidFill>
            <a:srgbClr val="F2E9D5"/>
          </a:solidFill>
          <a:ln w="10160">
            <a:solidFill>
              <a:srgbClr val="F2E9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36992" y="4846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64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reference means the report arrived.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4944" y="598932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parts: basic safety advice  ·  status check  ·  alternative instructions if the site is down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8890">
            <a:solidFill>
              <a:srgbClr val="D9D8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65471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70" kern="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UNISAFE  /  ICT PROJECT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93776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prototype keeps the form straightforward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21615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review the details before UniSafe confirms receipt.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1847088"/>
            <a:ext cx="7086600" cy="4251960"/>
          </a:xfrm>
          <a:prstGeom prst="roundRect">
            <a:avLst>
              <a:gd name="adj" fmla="val 430"/>
            </a:avLst>
          </a:prstGeom>
          <a:solidFill>
            <a:srgbClr val="FFFDF8"/>
          </a:solidFill>
          <a:ln w="10160">
            <a:solidFill>
              <a:srgbClr val="D9D8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47088"/>
            <a:ext cx="7086600" cy="393192"/>
          </a:xfrm>
          <a:prstGeom prst="rect">
            <a:avLst/>
          </a:prstGeom>
          <a:solidFill>
            <a:srgbClr val="203E37"/>
          </a:solidFill>
          <a:ln w="12700">
            <a:solidFill>
              <a:srgbClr val="203E3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02536"/>
            <a:ext cx="64008" cy="64008"/>
          </a:xfrm>
          <a:prstGeom prst="ellipse">
            <a:avLst/>
          </a:prstGeom>
          <a:solidFill>
            <a:srgbClr val="D6A13D"/>
          </a:solidFill>
          <a:ln w="12700">
            <a:solidFill>
              <a:srgbClr val="D6A13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2002536"/>
            <a:ext cx="64008" cy="64008"/>
          </a:xfrm>
          <a:prstGeom prst="ellipse">
            <a:avLst/>
          </a:prstGeom>
          <a:solidFill>
            <a:srgbClr val="8AA096"/>
          </a:solidFill>
          <a:ln w="12700">
            <a:solidFill>
              <a:srgbClr val="8AA09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02536"/>
            <a:ext cx="64008" cy="64008"/>
          </a:xfrm>
          <a:prstGeom prst="ellipse">
            <a:avLst/>
          </a:prstGeom>
          <a:solidFill>
            <a:srgbClr val="8AA096"/>
          </a:solidFill>
          <a:ln w="12700">
            <a:solidFill>
              <a:srgbClr val="8AA09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196596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7E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unisafe.university.edu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60120" y="25328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an incident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29077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university team what happened.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3558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type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" y="3584448"/>
            <a:ext cx="6355080" cy="402336"/>
          </a:xfrm>
          <a:prstGeom prst="roundRect">
            <a:avLst>
              <a:gd name="adj" fmla="val 4545"/>
            </a:avLst>
          </a:prstGeom>
          <a:solidFill>
            <a:srgbClr val="FFFDF8"/>
          </a:solidFill>
          <a:ln w="10160">
            <a:solidFill>
              <a:srgbClr val="D9D8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71246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email or message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4160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0120" y="4389120"/>
            <a:ext cx="6355080" cy="822960"/>
          </a:xfrm>
          <a:prstGeom prst="roundRect">
            <a:avLst>
              <a:gd name="adj" fmla="val 2222"/>
            </a:avLst>
          </a:prstGeom>
          <a:solidFill>
            <a:srgbClr val="FFFDF8"/>
          </a:solidFill>
          <a:ln w="10160">
            <a:solidFill>
              <a:srgbClr val="D9D8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599432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received an unexpected email with a link asking me to sign in.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5367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0120" y="5577840"/>
            <a:ext cx="2029968" cy="356616"/>
          </a:xfrm>
          <a:prstGeom prst="roundRect">
            <a:avLst>
              <a:gd name="adj" fmla="val 5128"/>
            </a:avLst>
          </a:prstGeom>
          <a:solidFill>
            <a:srgbClr val="FFFDF8"/>
          </a:solidFill>
          <a:ln w="10160">
            <a:solidFill>
              <a:srgbClr val="D9D8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67842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October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73552" y="53675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or file (optional)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73552" y="5577840"/>
            <a:ext cx="2029968" cy="356616"/>
          </a:xfrm>
          <a:prstGeom prst="roundRect">
            <a:avLst>
              <a:gd name="adj" fmla="val 5128"/>
            </a:avLst>
          </a:prstGeom>
          <a:solidFill>
            <a:srgbClr val="F4F5F0"/>
          </a:solidFill>
          <a:ln w="10160">
            <a:solidFill>
              <a:srgbClr val="D5DB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567842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file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52160" y="5577840"/>
            <a:ext cx="1463040" cy="356616"/>
          </a:xfrm>
          <a:prstGeom prst="roundRect">
            <a:avLst>
              <a:gd name="adj" fmla="val 5128"/>
            </a:avLst>
          </a:prstGeom>
          <a:solidFill>
            <a:srgbClr val="315F53"/>
          </a:solidFill>
          <a:ln w="10160">
            <a:solidFill>
              <a:srgbClr val="315F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1888" y="567842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report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28432" y="1847088"/>
            <a:ext cx="3520440" cy="1847088"/>
          </a:xfrm>
          <a:prstGeom prst="roundRect">
            <a:avLst>
              <a:gd name="adj" fmla="val 990"/>
            </a:avLst>
          </a:prstGeom>
          <a:solidFill>
            <a:srgbClr val="E8EEE7"/>
          </a:solidFill>
          <a:ln w="10160">
            <a:solidFill>
              <a:srgbClr val="E8E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21396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3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SENDING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21040" y="252374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3E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the incident type, date and description.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21040" y="32369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attachment is optional.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28432" y="3931920"/>
            <a:ext cx="3520440" cy="2167128"/>
          </a:xfrm>
          <a:prstGeom prst="roundRect">
            <a:avLst>
              <a:gd name="adj" fmla="val 844"/>
            </a:avLst>
          </a:prstGeom>
          <a:solidFill>
            <a:srgbClr val="203E37"/>
          </a:solidFill>
          <a:ln w="10160">
            <a:solidFill>
              <a:srgbClr val="203E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42245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C8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SENDING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2104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received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8321040" y="50200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this example reference number: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21040" y="5321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E5B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US-482731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321040" y="5742432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review it; the system does not classify it automatically.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8890">
            <a:solidFill>
              <a:srgbClr val="D9D8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65471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70" kern="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UNISAFE  /  ICT PROJECT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93776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web service, with clear limits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21615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needs internet to reach the university team.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029968"/>
            <a:ext cx="1572768" cy="1097280"/>
          </a:xfrm>
          <a:prstGeom prst="roundRect">
            <a:avLst>
              <a:gd name="adj" fmla="val 1667"/>
            </a:avLst>
          </a:prstGeom>
          <a:solidFill>
            <a:srgbClr val="FFFDF8"/>
          </a:solidFill>
          <a:ln w="10160">
            <a:solidFill>
              <a:srgbClr val="D9D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6771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or staff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63347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/ computer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21992" y="2569464"/>
            <a:ext cx="640080" cy="0"/>
          </a:xfrm>
          <a:prstGeom prst="line">
            <a:avLst/>
          </a:prstGeom>
          <a:noFill/>
          <a:ln w="17780">
            <a:solidFill>
              <a:srgbClr val="D6A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24912" y="2496312"/>
            <a:ext cx="146304" cy="146304"/>
          </a:xfrm>
          <a:prstGeom prst="chevron">
            <a:avLst/>
          </a:prstGeom>
          <a:solidFill>
            <a:srgbClr val="D6A13D"/>
          </a:solidFill>
          <a:ln w="12700">
            <a:solidFill>
              <a:srgbClr val="D6A13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2029968"/>
            <a:ext cx="1572768" cy="1097280"/>
          </a:xfrm>
          <a:prstGeom prst="roundRect">
            <a:avLst>
              <a:gd name="adj" fmla="val 1667"/>
            </a:avLst>
          </a:prstGeom>
          <a:solidFill>
            <a:srgbClr val="FFFDF8"/>
          </a:solidFill>
          <a:ln w="10160">
            <a:solidFill>
              <a:srgbClr val="D9D8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226771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UniSafe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81528" y="263347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form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53712" y="2569464"/>
            <a:ext cx="640080" cy="0"/>
          </a:xfrm>
          <a:prstGeom prst="line">
            <a:avLst/>
          </a:prstGeom>
          <a:noFill/>
          <a:ln w="17780">
            <a:solidFill>
              <a:srgbClr val="D6A1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6632" y="2496312"/>
            <a:ext cx="146304" cy="146304"/>
          </a:xfrm>
          <a:prstGeom prst="chevron">
            <a:avLst/>
          </a:prstGeom>
          <a:solidFill>
            <a:srgbClr val="D6A13D"/>
          </a:solidFill>
          <a:ln w="12700">
            <a:solidFill>
              <a:srgbClr val="D6A13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2029968"/>
            <a:ext cx="1572768" cy="1097280"/>
          </a:xfrm>
          <a:prstGeom prst="roundRect">
            <a:avLst>
              <a:gd name="adj" fmla="val 1667"/>
            </a:avLst>
          </a:prstGeom>
          <a:solidFill>
            <a:srgbClr val="FFFDF8"/>
          </a:solidFill>
          <a:ln w="10160">
            <a:solidFill>
              <a:srgbClr val="D9D8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226771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 server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13248" y="263347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report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85432" y="2569464"/>
            <a:ext cx="640080" cy="0"/>
          </a:xfrm>
          <a:prstGeom prst="line">
            <a:avLst/>
          </a:prstGeom>
          <a:noFill/>
          <a:ln w="17780">
            <a:solidFill>
              <a:srgbClr val="D6A1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88352" y="2496312"/>
            <a:ext cx="146304" cy="146304"/>
          </a:xfrm>
          <a:prstGeom prst="chevron">
            <a:avLst/>
          </a:prstGeom>
          <a:solidFill>
            <a:srgbClr val="D6A13D"/>
          </a:solidFill>
          <a:ln w="12700">
            <a:solidFill>
              <a:srgbClr val="D6A13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35240" y="2029968"/>
            <a:ext cx="1572768" cy="1097280"/>
          </a:xfrm>
          <a:prstGeom prst="roundRect">
            <a:avLst>
              <a:gd name="adj" fmla="val 1667"/>
            </a:avLst>
          </a:prstGeom>
          <a:solidFill>
            <a:srgbClr val="FFFDF8"/>
          </a:solidFill>
          <a:ln w="10160">
            <a:solidFill>
              <a:srgbClr val="D9D8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44968" y="226771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44968" y="263347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access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217152" y="2569464"/>
            <a:ext cx="640080" cy="0"/>
          </a:xfrm>
          <a:prstGeom prst="line">
            <a:avLst/>
          </a:prstGeom>
          <a:noFill/>
          <a:ln w="17780">
            <a:solidFill>
              <a:srgbClr val="D6A1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20072" y="2496312"/>
            <a:ext cx="146304" cy="146304"/>
          </a:xfrm>
          <a:prstGeom prst="chevron">
            <a:avLst/>
          </a:prstGeom>
          <a:solidFill>
            <a:srgbClr val="D6A13D"/>
          </a:solidFill>
          <a:ln w="12700">
            <a:solidFill>
              <a:srgbClr val="D6A13D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66960" y="2029968"/>
            <a:ext cx="1572768" cy="1097280"/>
          </a:xfrm>
          <a:prstGeom prst="roundRect">
            <a:avLst>
              <a:gd name="adj" fmla="val 1667"/>
            </a:avLst>
          </a:prstGeom>
          <a:solidFill>
            <a:srgbClr val="203E37"/>
          </a:solidFill>
          <a:ln w="10160">
            <a:solidFill>
              <a:srgbClr val="203E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76688" y="226771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/ security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76688" y="263347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D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review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" y="3767328"/>
            <a:ext cx="10881360" cy="0"/>
          </a:xfrm>
          <a:prstGeom prst="line">
            <a:avLst/>
          </a:prstGeom>
          <a:noFill/>
          <a:ln w="12700">
            <a:solidFill>
              <a:srgbClr val="D9D8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0782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3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WEBSITE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443484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on devices people already use; no app install needed.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251960" y="40782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3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REPORTS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51960" y="443484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authorized staff should access reports and uploaded files.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845552" y="40782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C96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CONNECTION FAILS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45552" y="44348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clearly the report was not sent; show the official helpdesk contact.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58368" y="5522976"/>
            <a:ext cx="10881360" cy="493776"/>
          </a:xfrm>
          <a:prstGeom prst="roundRect">
            <a:avLst>
              <a:gd name="adj" fmla="val 3704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" y="5687568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concept prototype. Reports are not sent to a real university service.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8890">
            <a:solidFill>
              <a:srgbClr val="D9D8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65471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70" kern="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UNISAFE  /  ICT PROJECT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UniSafe</dc:title>
  <dc:subject>University cyber incident reporting concept</dc:subject>
  <dc:creator>UniSafe project</dc:creator>
  <cp:lastModifiedBy>UniSafe project</cp:lastModifiedBy>
  <cp:revision>1</cp:revision>
  <dcterms:created xsi:type="dcterms:W3CDTF">2026-10-07T13:54:02Z</dcterms:created>
  <dcterms:modified xsi:type="dcterms:W3CDTF">2026-10-07T13:54:02Z</dcterms:modified>
</cp:coreProperties>
</file>